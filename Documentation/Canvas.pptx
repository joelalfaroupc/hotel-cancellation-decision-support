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9" roundtripDataSignature="AMtx7mhC90kYaohNbQDSt8bQa9xv6CJ5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B86136-B855-490C-A661-0692E11C9BB2}">
  <a:tblStyle styleId="{9BB86136-B855-490C-A661-0692E11C9BB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 name="Google Shape;1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a-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pSp>
        <p:nvGrpSpPr>
          <p:cNvPr id="54" name="Google Shape;54;p2"/>
          <p:cNvGrpSpPr/>
          <p:nvPr/>
        </p:nvGrpSpPr>
        <p:grpSpPr>
          <a:xfrm>
            <a:off x="2409775" y="853475"/>
            <a:ext cx="2122400" cy="1487022"/>
            <a:chOff x="-1" y="-4"/>
            <a:chExt cx="3022501" cy="2615233"/>
          </a:xfrm>
        </p:grpSpPr>
        <p:sp>
          <p:nvSpPr>
            <p:cNvPr id="55" name="Google Shape;55;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56" name="Google Shape;56;p2"/>
            <p:cNvSpPr/>
            <p:nvPr/>
          </p:nvSpPr>
          <p:spPr>
            <a:xfrm>
              <a:off x="-1" y="1929"/>
              <a:ext cx="3021900" cy="4572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57" name="Google Shape;57;p2"/>
            <p:cNvSpPr txBox="1"/>
            <p:nvPr/>
          </p:nvSpPr>
          <p:spPr>
            <a:xfrm>
              <a:off x="402410" y="-4"/>
              <a:ext cx="22239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000"/>
                <a:buFont typeface="Arial"/>
                <a:buNone/>
              </a:pPr>
              <a:r>
                <a:rPr b="1" i="0" lang="ca-ES" sz="1000" u="none" cap="none" strike="noStrike">
                  <a:solidFill>
                    <a:srgbClr val="FFFFFF"/>
                  </a:solidFill>
                  <a:latin typeface="Arial"/>
                  <a:ea typeface="Arial"/>
                  <a:cs typeface="Arial"/>
                  <a:sym typeface="Arial"/>
                </a:rPr>
                <a:t>Proposta de Valor</a:t>
              </a:r>
              <a:endParaRPr b="0" i="0" sz="1000" u="none" cap="none" strike="noStrike">
                <a:solidFill>
                  <a:srgbClr val="000000"/>
                </a:solidFill>
                <a:latin typeface="Arial"/>
                <a:ea typeface="Arial"/>
                <a:cs typeface="Arial"/>
                <a:sym typeface="Arial"/>
              </a:endParaRPr>
            </a:p>
          </p:txBody>
        </p:sp>
      </p:grpSp>
      <p:grpSp>
        <p:nvGrpSpPr>
          <p:cNvPr id="58" name="Google Shape;58;p2"/>
          <p:cNvGrpSpPr/>
          <p:nvPr/>
        </p:nvGrpSpPr>
        <p:grpSpPr>
          <a:xfrm>
            <a:off x="213100" y="727888"/>
            <a:ext cx="2122400" cy="3048367"/>
            <a:chOff x="-1" y="-112372"/>
            <a:chExt cx="3022501" cy="2727601"/>
          </a:xfrm>
        </p:grpSpPr>
        <p:sp>
          <p:nvSpPr>
            <p:cNvPr id="59" name="Google Shape;59;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0" name="Google Shape;60;p2"/>
            <p:cNvSpPr/>
            <p:nvPr/>
          </p:nvSpPr>
          <p:spPr>
            <a:xfrm>
              <a:off x="-1" y="1927"/>
              <a:ext cx="3021900" cy="2325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1" name="Google Shape;61;p2"/>
            <p:cNvSpPr txBox="1"/>
            <p:nvPr/>
          </p:nvSpPr>
          <p:spPr>
            <a:xfrm>
              <a:off x="272572" y="-112372"/>
              <a:ext cx="23379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La tasca i la decisió</a:t>
              </a:r>
              <a:endParaRPr b="0" i="0" sz="1100" u="none" cap="none" strike="noStrike">
                <a:solidFill>
                  <a:srgbClr val="000000"/>
                </a:solidFill>
                <a:latin typeface="Arial"/>
                <a:ea typeface="Arial"/>
                <a:cs typeface="Arial"/>
                <a:sym typeface="Arial"/>
              </a:endParaRPr>
            </a:p>
          </p:txBody>
        </p:sp>
      </p:grpSp>
      <p:grpSp>
        <p:nvGrpSpPr>
          <p:cNvPr id="62" name="Google Shape;62;p2"/>
          <p:cNvGrpSpPr/>
          <p:nvPr/>
        </p:nvGrpSpPr>
        <p:grpSpPr>
          <a:xfrm>
            <a:off x="6797075" y="714811"/>
            <a:ext cx="2122400" cy="3061444"/>
            <a:chOff x="-1" y="-124073"/>
            <a:chExt cx="3022501" cy="2739302"/>
          </a:xfrm>
        </p:grpSpPr>
        <p:sp>
          <p:nvSpPr>
            <p:cNvPr id="63" name="Google Shape;63;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4" name="Google Shape;64;p2"/>
            <p:cNvSpPr/>
            <p:nvPr/>
          </p:nvSpPr>
          <p:spPr>
            <a:xfrm>
              <a:off x="-1" y="1927"/>
              <a:ext cx="3021900" cy="2091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5" name="Google Shape;65;p2"/>
            <p:cNvSpPr txBox="1"/>
            <p:nvPr/>
          </p:nvSpPr>
          <p:spPr>
            <a:xfrm>
              <a:off x="751294" y="-124073"/>
              <a:ext cx="16326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Desplegament</a:t>
              </a:r>
              <a:endParaRPr b="0" i="0" sz="1100" u="none" cap="none" strike="noStrike">
                <a:solidFill>
                  <a:srgbClr val="000000"/>
                </a:solidFill>
                <a:latin typeface="Arial"/>
                <a:ea typeface="Arial"/>
                <a:cs typeface="Arial"/>
                <a:sym typeface="Arial"/>
              </a:endParaRPr>
            </a:p>
          </p:txBody>
        </p:sp>
      </p:grpSp>
      <p:grpSp>
        <p:nvGrpSpPr>
          <p:cNvPr id="66" name="Google Shape;66;p2"/>
          <p:cNvGrpSpPr/>
          <p:nvPr/>
        </p:nvGrpSpPr>
        <p:grpSpPr>
          <a:xfrm>
            <a:off x="4606454" y="853475"/>
            <a:ext cx="2122400" cy="1487021"/>
            <a:chOff x="-1" y="-3"/>
            <a:chExt cx="3022501" cy="2615232"/>
          </a:xfrm>
        </p:grpSpPr>
        <p:sp>
          <p:nvSpPr>
            <p:cNvPr id="67" name="Google Shape;67;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8" name="Google Shape;68;p2"/>
            <p:cNvSpPr/>
            <p:nvPr/>
          </p:nvSpPr>
          <p:spPr>
            <a:xfrm>
              <a:off x="-1" y="1929"/>
              <a:ext cx="3021900" cy="4572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69" name="Google Shape;69;p2"/>
            <p:cNvSpPr txBox="1"/>
            <p:nvPr/>
          </p:nvSpPr>
          <p:spPr>
            <a:xfrm>
              <a:off x="119038" y="-3"/>
              <a:ext cx="26187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Judici (criteri de decisió)</a:t>
              </a:r>
              <a:endParaRPr b="0" i="0" sz="1100" u="none" cap="none" strike="noStrike">
                <a:solidFill>
                  <a:srgbClr val="000000"/>
                </a:solidFill>
                <a:latin typeface="Arial"/>
                <a:ea typeface="Arial"/>
                <a:cs typeface="Arial"/>
                <a:sym typeface="Arial"/>
              </a:endParaRPr>
            </a:p>
          </p:txBody>
        </p:sp>
      </p:grpSp>
      <p:grpSp>
        <p:nvGrpSpPr>
          <p:cNvPr id="70" name="Google Shape;70;p2"/>
          <p:cNvGrpSpPr/>
          <p:nvPr/>
        </p:nvGrpSpPr>
        <p:grpSpPr>
          <a:xfrm>
            <a:off x="218650" y="3833675"/>
            <a:ext cx="4313637" cy="945059"/>
            <a:chOff x="-1" y="37"/>
            <a:chExt cx="4064101" cy="2616130"/>
          </a:xfrm>
        </p:grpSpPr>
        <p:sp>
          <p:nvSpPr>
            <p:cNvPr id="71" name="Google Shape;71;p2"/>
            <p:cNvSpPr/>
            <p:nvPr/>
          </p:nvSpPr>
          <p:spPr>
            <a:xfrm>
              <a:off x="0" y="1967"/>
              <a:ext cx="4064100" cy="26142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72" name="Google Shape;72;p2"/>
            <p:cNvSpPr/>
            <p:nvPr/>
          </p:nvSpPr>
          <p:spPr>
            <a:xfrm>
              <a:off x="-1" y="1967"/>
              <a:ext cx="4063200" cy="4575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73" name="Google Shape;73;p2"/>
            <p:cNvSpPr txBox="1"/>
            <p:nvPr/>
          </p:nvSpPr>
          <p:spPr>
            <a:xfrm>
              <a:off x="393285" y="37"/>
              <a:ext cx="13869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Riscos</a:t>
              </a:r>
              <a:endParaRPr b="0" i="0" sz="1100" u="none" cap="none" strike="noStrike">
                <a:solidFill>
                  <a:srgbClr val="000000"/>
                </a:solidFill>
                <a:latin typeface="Arial"/>
                <a:ea typeface="Arial"/>
                <a:cs typeface="Arial"/>
                <a:sym typeface="Arial"/>
              </a:endParaRPr>
            </a:p>
          </p:txBody>
        </p:sp>
      </p:grpSp>
      <p:sp>
        <p:nvSpPr>
          <p:cNvPr id="74" name="Google Shape;74;p2"/>
          <p:cNvSpPr/>
          <p:nvPr/>
        </p:nvSpPr>
        <p:spPr>
          <a:xfrm>
            <a:off x="223125" y="487195"/>
            <a:ext cx="8706300" cy="320700"/>
          </a:xfrm>
          <a:prstGeom prst="rect">
            <a:avLst/>
          </a:prstGeom>
          <a:solidFill>
            <a:srgbClr val="CFE2F3"/>
          </a:solidFill>
          <a:ln>
            <a:noFill/>
          </a:ln>
        </p:spPr>
        <p:txBody>
          <a:bodyPr anchorCtr="0" anchor="t" bIns="35700" lIns="35700" spcFirstLastPara="1" rIns="35700" wrap="square" tIns="35700">
            <a:noAutofit/>
          </a:bodyPr>
          <a:lstStyle/>
          <a:p>
            <a:pPr indent="0" lvl="0" marL="0" marR="0" rtl="0" algn="l">
              <a:lnSpc>
                <a:spcPct val="100000"/>
              </a:lnSpc>
              <a:spcBef>
                <a:spcPts val="0"/>
              </a:spcBef>
              <a:spcAft>
                <a:spcPts val="0"/>
              </a:spcAft>
              <a:buClr>
                <a:srgbClr val="000000"/>
              </a:buClr>
              <a:buSzPts val="1333"/>
              <a:buFont typeface="Arial"/>
              <a:buNone/>
            </a:pPr>
            <a:r>
              <a:rPr b="0" i="0" lang="ca-ES" sz="1333" u="none" cap="none" strike="noStrike">
                <a:solidFill>
                  <a:srgbClr val="000000"/>
                </a:solidFill>
                <a:latin typeface="Arial"/>
                <a:ea typeface="Arial"/>
                <a:cs typeface="Arial"/>
                <a:sym typeface="Arial"/>
              </a:rPr>
              <a:t>Projecte: Predicció de cancel·lacions en reserves hoteleres</a:t>
            </a:r>
            <a:endParaRPr b="0" i="0" sz="1333"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67"/>
              <a:buFont typeface="Arial"/>
              <a:buNone/>
            </a:pPr>
            <a:r>
              <a:t/>
            </a:r>
            <a:endParaRPr b="0" i="0" sz="1067" u="none" cap="none" strike="noStrike">
              <a:solidFill>
                <a:srgbClr val="0E2841"/>
              </a:solidFill>
              <a:latin typeface="Arial"/>
              <a:ea typeface="Arial"/>
              <a:cs typeface="Arial"/>
              <a:sym typeface="Arial"/>
            </a:endParaRPr>
          </a:p>
        </p:txBody>
      </p:sp>
      <p:sp>
        <p:nvSpPr>
          <p:cNvPr id="75" name="Google Shape;75;p2"/>
          <p:cNvSpPr txBox="1"/>
          <p:nvPr/>
        </p:nvSpPr>
        <p:spPr>
          <a:xfrm>
            <a:off x="147425" y="39400"/>
            <a:ext cx="3000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ca-ES" sz="1700" u="none" cap="none" strike="noStrike">
                <a:solidFill>
                  <a:srgbClr val="000000"/>
                </a:solidFill>
                <a:latin typeface="Arial"/>
                <a:ea typeface="Arial"/>
                <a:cs typeface="Arial"/>
                <a:sym typeface="Arial"/>
              </a:rPr>
              <a:t>AI-Council Canvas </a:t>
            </a:r>
            <a:endParaRPr b="1" i="0" sz="1700" u="none" cap="none" strike="noStrike">
              <a:solidFill>
                <a:srgbClr val="000000"/>
              </a:solidFill>
              <a:latin typeface="Arial"/>
              <a:ea typeface="Arial"/>
              <a:cs typeface="Arial"/>
              <a:sym typeface="Arial"/>
            </a:endParaRPr>
          </a:p>
        </p:txBody>
      </p:sp>
      <p:grpSp>
        <p:nvGrpSpPr>
          <p:cNvPr id="76" name="Google Shape;76;p2"/>
          <p:cNvGrpSpPr/>
          <p:nvPr/>
        </p:nvGrpSpPr>
        <p:grpSpPr>
          <a:xfrm>
            <a:off x="4606450" y="3833675"/>
            <a:ext cx="4313637" cy="944423"/>
            <a:chOff x="-1" y="37"/>
            <a:chExt cx="4064101" cy="2616130"/>
          </a:xfrm>
        </p:grpSpPr>
        <p:sp>
          <p:nvSpPr>
            <p:cNvPr id="77" name="Google Shape;77;p2"/>
            <p:cNvSpPr/>
            <p:nvPr/>
          </p:nvSpPr>
          <p:spPr>
            <a:xfrm>
              <a:off x="0" y="1967"/>
              <a:ext cx="4064100" cy="26142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78" name="Google Shape;78;p2"/>
            <p:cNvSpPr/>
            <p:nvPr/>
          </p:nvSpPr>
          <p:spPr>
            <a:xfrm>
              <a:off x="-1" y="1967"/>
              <a:ext cx="4063200" cy="4575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79" name="Google Shape;79;p2"/>
            <p:cNvSpPr txBox="1"/>
            <p:nvPr/>
          </p:nvSpPr>
          <p:spPr>
            <a:xfrm>
              <a:off x="393285" y="37"/>
              <a:ext cx="13869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Barreres</a:t>
              </a:r>
              <a:endParaRPr b="0" i="0" sz="11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2406750" y="2407363"/>
            <a:ext cx="2119680" cy="1364629"/>
            <a:chOff x="-1" y="-4"/>
            <a:chExt cx="3022501" cy="2615233"/>
          </a:xfrm>
        </p:grpSpPr>
        <p:sp>
          <p:nvSpPr>
            <p:cNvPr id="81" name="Google Shape;81;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82" name="Google Shape;82;p2"/>
            <p:cNvSpPr/>
            <p:nvPr/>
          </p:nvSpPr>
          <p:spPr>
            <a:xfrm>
              <a:off x="-1" y="1929"/>
              <a:ext cx="3021900" cy="4572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83" name="Google Shape;83;p2"/>
            <p:cNvSpPr txBox="1"/>
            <p:nvPr/>
          </p:nvSpPr>
          <p:spPr>
            <a:xfrm>
              <a:off x="402410" y="-4"/>
              <a:ext cx="22239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000"/>
                <a:buFont typeface="Arial"/>
                <a:buNone/>
              </a:pPr>
              <a:r>
                <a:rPr b="1" i="0" lang="ca-ES" sz="1000" u="none" cap="none" strike="noStrike">
                  <a:solidFill>
                    <a:srgbClr val="FFFFFF"/>
                  </a:solidFill>
                  <a:latin typeface="Arial"/>
                  <a:ea typeface="Arial"/>
                  <a:cs typeface="Arial"/>
                  <a:sym typeface="Arial"/>
                </a:rPr>
                <a:t>Dades</a:t>
              </a:r>
              <a:endParaRPr b="0" i="0" sz="1000" u="none" cap="none" strike="noStrike">
                <a:solidFill>
                  <a:srgbClr val="000000"/>
                </a:solidFill>
                <a:latin typeface="Arial"/>
                <a:ea typeface="Arial"/>
                <a:cs typeface="Arial"/>
                <a:sym typeface="Arial"/>
              </a:endParaRPr>
            </a:p>
          </p:txBody>
        </p:sp>
      </p:grpSp>
      <p:grpSp>
        <p:nvGrpSpPr>
          <p:cNvPr id="84" name="Google Shape;84;p2"/>
          <p:cNvGrpSpPr/>
          <p:nvPr/>
        </p:nvGrpSpPr>
        <p:grpSpPr>
          <a:xfrm>
            <a:off x="4600655" y="2407363"/>
            <a:ext cx="2119680" cy="1364628"/>
            <a:chOff x="-1" y="-3"/>
            <a:chExt cx="3022501" cy="2615232"/>
          </a:xfrm>
        </p:grpSpPr>
        <p:sp>
          <p:nvSpPr>
            <p:cNvPr id="85" name="Google Shape;85;p2"/>
            <p:cNvSpPr/>
            <p:nvPr/>
          </p:nvSpPr>
          <p:spPr>
            <a:xfrm>
              <a:off x="0" y="1929"/>
              <a:ext cx="3022500" cy="2613300"/>
            </a:xfrm>
            <a:prstGeom prst="rect">
              <a:avLst/>
            </a:prstGeom>
            <a:solidFill>
              <a:srgbClr val="D6D5D5"/>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86" name="Google Shape;86;p2"/>
            <p:cNvSpPr/>
            <p:nvPr/>
          </p:nvSpPr>
          <p:spPr>
            <a:xfrm>
              <a:off x="-1" y="1929"/>
              <a:ext cx="3021900" cy="457200"/>
            </a:xfrm>
            <a:prstGeom prst="rect">
              <a:avLst/>
            </a:prstGeom>
            <a:solidFill>
              <a:srgbClr val="196B24"/>
            </a:solid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547"/>
                <a:buFont typeface="Arial"/>
                <a:buNone/>
              </a:pPr>
              <a:r>
                <a:t/>
              </a:r>
              <a:endParaRPr b="0" i="0" sz="1547" u="none" cap="none" strike="noStrike">
                <a:solidFill>
                  <a:srgbClr val="FFFFFF"/>
                </a:solidFill>
                <a:latin typeface="Arial"/>
                <a:ea typeface="Arial"/>
                <a:cs typeface="Arial"/>
                <a:sym typeface="Arial"/>
              </a:endParaRPr>
            </a:p>
          </p:txBody>
        </p:sp>
        <p:sp>
          <p:nvSpPr>
            <p:cNvPr id="87" name="Google Shape;87;p2"/>
            <p:cNvSpPr txBox="1"/>
            <p:nvPr/>
          </p:nvSpPr>
          <p:spPr>
            <a:xfrm>
              <a:off x="119038" y="-3"/>
              <a:ext cx="2618700" cy="461100"/>
            </a:xfrm>
            <a:prstGeom prst="rect">
              <a:avLst/>
            </a:prstGeom>
            <a:noFill/>
            <a:ln>
              <a:noFill/>
            </a:ln>
          </p:spPr>
          <p:txBody>
            <a:bodyPr anchorCtr="0" anchor="ctr" bIns="35700" lIns="35700" spcFirstLastPara="1" rIns="35700" wrap="square" tIns="35700">
              <a:noAutofit/>
            </a:bodyPr>
            <a:lstStyle/>
            <a:p>
              <a:pPr indent="0" lvl="0" marL="0" marR="0" rtl="0" algn="ctr">
                <a:lnSpc>
                  <a:spcPct val="100000"/>
                </a:lnSpc>
                <a:spcBef>
                  <a:spcPts val="0"/>
                </a:spcBef>
                <a:spcAft>
                  <a:spcPts val="0"/>
                </a:spcAft>
                <a:buClr>
                  <a:srgbClr val="000000"/>
                </a:buClr>
                <a:buSzPts val="1100"/>
                <a:buFont typeface="Arial"/>
                <a:buNone/>
              </a:pPr>
              <a:r>
                <a:rPr b="1" i="0" lang="ca-ES" sz="1100" u="none" cap="none" strike="noStrike">
                  <a:solidFill>
                    <a:srgbClr val="FFFFFF"/>
                  </a:solidFill>
                  <a:latin typeface="Arial"/>
                  <a:ea typeface="Arial"/>
                  <a:cs typeface="Arial"/>
                  <a:sym typeface="Arial"/>
                </a:rPr>
                <a:t>Resultat</a:t>
              </a:r>
              <a:endParaRPr b="0" i="0" sz="1100" u="none" cap="none" strike="noStrike">
                <a:solidFill>
                  <a:srgbClr val="000000"/>
                </a:solidFill>
                <a:latin typeface="Arial"/>
                <a:ea typeface="Arial"/>
                <a:cs typeface="Arial"/>
                <a:sym typeface="Arial"/>
              </a:endParaRPr>
            </a:p>
          </p:txBody>
        </p:sp>
      </p:grpSp>
      <p:pic>
        <p:nvPicPr>
          <p:cNvPr id="88" name="Google Shape;88;p2"/>
          <p:cNvPicPr preferRelativeResize="0"/>
          <p:nvPr/>
        </p:nvPicPr>
        <p:blipFill rotWithShape="1">
          <a:blip r:embed="rId3">
            <a:alphaModFix/>
          </a:blip>
          <a:srcRect b="0" l="0" r="0" t="0"/>
          <a:stretch/>
        </p:blipFill>
        <p:spPr>
          <a:xfrm>
            <a:off x="8602700" y="102250"/>
            <a:ext cx="316785" cy="320700"/>
          </a:xfrm>
          <a:prstGeom prst="rect">
            <a:avLst/>
          </a:prstGeom>
          <a:noFill/>
          <a:ln>
            <a:noFill/>
          </a:ln>
        </p:spPr>
      </p:pic>
      <p:sp>
        <p:nvSpPr>
          <p:cNvPr id="89" name="Google Shape;89;p2"/>
          <p:cNvSpPr/>
          <p:nvPr/>
        </p:nvSpPr>
        <p:spPr>
          <a:xfrm>
            <a:off x="223125" y="4799074"/>
            <a:ext cx="8706300" cy="320700"/>
          </a:xfrm>
          <a:prstGeom prst="rect">
            <a:avLst/>
          </a:prstGeom>
          <a:solidFill>
            <a:srgbClr val="CFE2F3"/>
          </a:solidFill>
          <a:ln>
            <a:noFill/>
          </a:ln>
        </p:spPr>
        <p:txBody>
          <a:bodyPr anchorCtr="0" anchor="t" bIns="35700" lIns="35700" spcFirstLastPara="1" rIns="35700" wrap="square" tIns="35700">
            <a:noAutofit/>
          </a:bodyPr>
          <a:lstStyle/>
          <a:p>
            <a:pPr indent="0" lvl="0" marL="0" marR="0" rtl="0" algn="l">
              <a:lnSpc>
                <a:spcPct val="100000"/>
              </a:lnSpc>
              <a:spcBef>
                <a:spcPts val="0"/>
              </a:spcBef>
              <a:spcAft>
                <a:spcPts val="0"/>
              </a:spcAft>
              <a:buClr>
                <a:srgbClr val="000000"/>
              </a:buClr>
              <a:buSzPts val="900"/>
              <a:buFont typeface="Arial"/>
              <a:buNone/>
            </a:pPr>
            <a:r>
              <a:rPr b="0" i="0" lang="ca-ES" sz="900" u="none" cap="none" strike="noStrike">
                <a:solidFill>
                  <a:srgbClr val="000000"/>
                </a:solidFill>
                <a:latin typeface="Arial"/>
                <a:ea typeface="Arial"/>
                <a:cs typeface="Arial"/>
                <a:sym typeface="Arial"/>
              </a:rPr>
              <a:t>  Comentaris:</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67"/>
              <a:buFont typeface="Arial"/>
              <a:buNone/>
            </a:pPr>
            <a:r>
              <a:t/>
            </a:r>
            <a:endParaRPr b="0" i="0" sz="1067" u="none" cap="none" strike="noStrike">
              <a:solidFill>
                <a:srgbClr val="0E2841"/>
              </a:solidFill>
              <a:latin typeface="Arial"/>
              <a:ea typeface="Arial"/>
              <a:cs typeface="Arial"/>
              <a:sym typeface="Arial"/>
            </a:endParaRPr>
          </a:p>
        </p:txBody>
      </p:sp>
      <p:sp>
        <p:nvSpPr>
          <p:cNvPr id="90" name="Google Shape;90;p2"/>
          <p:cNvSpPr txBox="1"/>
          <p:nvPr/>
        </p:nvSpPr>
        <p:spPr>
          <a:xfrm>
            <a:off x="284750" y="1062550"/>
            <a:ext cx="1979100" cy="2551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Quina tasca vols analitzar?</a:t>
            </a:r>
            <a:endParaRPr b="1" sz="900">
              <a:solidFill>
                <a:schemeClr val="dk1"/>
              </a:solidFill>
            </a:endParaRPr>
          </a:p>
          <a:p>
            <a:pPr indent="0" lvl="0" marL="0" rtl="0" algn="just">
              <a:spcBef>
                <a:spcPts val="0"/>
              </a:spcBef>
              <a:spcAft>
                <a:spcPts val="0"/>
              </a:spcAft>
              <a:buNone/>
            </a:pPr>
            <a:r>
              <a:rPr lang="ca-ES" sz="900">
                <a:solidFill>
                  <a:schemeClr val="dk1"/>
                </a:solidFill>
              </a:rPr>
              <a:t>Identificar quines reserves hoteleres (City Hotel i Resort Hotel) tenen risc de ser cancel·lades.</a:t>
            </a:r>
            <a:endParaRPr sz="900">
              <a:solidFill>
                <a:schemeClr val="dk1"/>
              </a:solidFill>
            </a:endParaRPr>
          </a:p>
          <a:p>
            <a:pPr indent="0" lvl="0" marL="0" rtl="0" algn="just">
              <a:spcBef>
                <a:spcPts val="0"/>
              </a:spcBef>
              <a:spcAft>
                <a:spcPts val="0"/>
              </a:spcAft>
              <a:buNone/>
            </a:pPr>
            <a:r>
              <a:t/>
            </a:r>
            <a:endParaRPr sz="900">
              <a:solidFill>
                <a:schemeClr val="dk1"/>
              </a:solidFill>
            </a:endParaRPr>
          </a:p>
          <a:p>
            <a:pPr indent="0" lvl="0" marL="0" rtl="0" algn="just">
              <a:spcBef>
                <a:spcPts val="0"/>
              </a:spcBef>
              <a:spcAft>
                <a:spcPts val="0"/>
              </a:spcAft>
              <a:buNone/>
            </a:pPr>
            <a:r>
              <a:rPr b="1" lang="ca-ES" sz="900">
                <a:solidFill>
                  <a:schemeClr val="dk1"/>
                </a:solidFill>
              </a:rPr>
              <a:t>Quina decisió es pot millorar amb IA?</a:t>
            </a:r>
            <a:endParaRPr b="1" sz="900">
              <a:solidFill>
                <a:schemeClr val="dk1"/>
              </a:solidFill>
            </a:endParaRPr>
          </a:p>
          <a:p>
            <a:pPr indent="0" lvl="0" marL="0" rtl="0" algn="just">
              <a:spcBef>
                <a:spcPts val="0"/>
              </a:spcBef>
              <a:spcAft>
                <a:spcPts val="0"/>
              </a:spcAft>
              <a:buNone/>
            </a:pPr>
            <a:r>
              <a:rPr lang="ca-ES" sz="900">
                <a:solidFill>
                  <a:schemeClr val="dk1"/>
                </a:solidFill>
              </a:rPr>
              <a:t>Decidir quines reserves tenen alt risc de cancel·lació per aplicar mesures preventives abans de la data d’arribada.</a:t>
            </a:r>
            <a:endParaRPr sz="900">
              <a:solidFill>
                <a:schemeClr val="dk1"/>
              </a:solidFill>
            </a:endParaRPr>
          </a:p>
          <a:p>
            <a:pPr indent="0" lvl="0" marL="0" rtl="0" algn="just">
              <a:spcBef>
                <a:spcPts val="0"/>
              </a:spcBef>
              <a:spcAft>
                <a:spcPts val="0"/>
              </a:spcAft>
              <a:buNone/>
            </a:pPr>
            <a:r>
              <a:t/>
            </a:r>
            <a:endParaRPr sz="900">
              <a:solidFill>
                <a:schemeClr val="dk1"/>
              </a:solidFill>
            </a:endParaRPr>
          </a:p>
          <a:p>
            <a:pPr indent="0" lvl="0" marL="0" rtl="0" algn="just">
              <a:spcBef>
                <a:spcPts val="0"/>
              </a:spcBef>
              <a:spcAft>
                <a:spcPts val="0"/>
              </a:spcAft>
              <a:buNone/>
            </a:pPr>
            <a:r>
              <a:rPr b="1" lang="ca-ES" sz="900">
                <a:solidFill>
                  <a:schemeClr val="dk1"/>
                </a:solidFill>
              </a:rPr>
              <a:t>Quin aspecte vols millorar?</a:t>
            </a:r>
            <a:endParaRPr b="1" sz="900">
              <a:solidFill>
                <a:schemeClr val="dk1"/>
              </a:solidFill>
            </a:endParaRPr>
          </a:p>
          <a:p>
            <a:pPr indent="0" lvl="0" marL="0" rtl="0" algn="just">
              <a:spcBef>
                <a:spcPts val="0"/>
              </a:spcBef>
              <a:spcAft>
                <a:spcPts val="0"/>
              </a:spcAft>
              <a:buNone/>
            </a:pPr>
            <a:r>
              <a:rPr lang="ca-ES" sz="900">
                <a:solidFill>
                  <a:schemeClr val="dk1"/>
                </a:solidFill>
              </a:rPr>
              <a:t>Reduir l’impacte econòmic de les cancel·lacions inesperades i millorar la planificació d’ocupació i ingressos.</a:t>
            </a:r>
            <a:endParaRPr sz="900">
              <a:solidFill>
                <a:schemeClr val="dk1"/>
              </a:solidFill>
            </a:endParaRPr>
          </a:p>
        </p:txBody>
      </p:sp>
      <p:sp>
        <p:nvSpPr>
          <p:cNvPr id="91" name="Google Shape;91;p2"/>
          <p:cNvSpPr txBox="1"/>
          <p:nvPr/>
        </p:nvSpPr>
        <p:spPr>
          <a:xfrm>
            <a:off x="2411075" y="1179000"/>
            <a:ext cx="2119800" cy="10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ca-ES" sz="900">
                <a:solidFill>
                  <a:schemeClr val="dk1"/>
                </a:solidFill>
              </a:rPr>
              <a:t>Quin valor proporciona una solució</a:t>
            </a:r>
            <a:endParaRPr b="1" sz="900">
              <a:solidFill>
                <a:schemeClr val="dk1"/>
              </a:solidFill>
            </a:endParaRPr>
          </a:p>
          <a:p>
            <a:pPr indent="0" lvl="0" marL="0" rtl="0" algn="l">
              <a:spcBef>
                <a:spcPts val="0"/>
              </a:spcBef>
              <a:spcAft>
                <a:spcPts val="0"/>
              </a:spcAft>
              <a:buNone/>
            </a:pPr>
            <a:r>
              <a:rPr b="1" lang="ca-ES" sz="900">
                <a:solidFill>
                  <a:schemeClr val="dk1"/>
                </a:solidFill>
              </a:rPr>
              <a:t>basada en IA?</a:t>
            </a:r>
            <a:endParaRPr b="1" sz="900">
              <a:solidFill>
                <a:schemeClr val="dk1"/>
              </a:solidFill>
            </a:endParaRPr>
          </a:p>
          <a:p>
            <a:pPr indent="0" lvl="0" marL="0" rtl="0" algn="l">
              <a:spcBef>
                <a:spcPts val="0"/>
              </a:spcBef>
              <a:spcAft>
                <a:spcPts val="0"/>
              </a:spcAft>
              <a:buNone/>
            </a:pPr>
            <a:r>
              <a:rPr lang="ca-ES" sz="900">
                <a:solidFill>
                  <a:schemeClr val="dk1"/>
                </a:solidFill>
              </a:rPr>
              <a:t>Evitar pèrdues alertant a l’hotel del risc de “No-Show”.</a:t>
            </a:r>
            <a:endParaRPr sz="900">
              <a:solidFill>
                <a:schemeClr val="dk1"/>
              </a:solidFill>
            </a:endParaRPr>
          </a:p>
          <a:p>
            <a:pPr indent="0" lvl="0" marL="0" rtl="0" algn="l">
              <a:spcBef>
                <a:spcPts val="0"/>
              </a:spcBef>
              <a:spcAft>
                <a:spcPts val="0"/>
              </a:spcAft>
              <a:buNone/>
            </a:pPr>
            <a:r>
              <a:t/>
            </a:r>
            <a:endParaRPr sz="900">
              <a:solidFill>
                <a:schemeClr val="dk1"/>
              </a:solidFill>
            </a:endParaRPr>
          </a:p>
        </p:txBody>
      </p:sp>
      <p:sp>
        <p:nvSpPr>
          <p:cNvPr id="92" name="Google Shape;92;p2"/>
          <p:cNvSpPr txBox="1"/>
          <p:nvPr/>
        </p:nvSpPr>
        <p:spPr>
          <a:xfrm>
            <a:off x="4604075" y="1062538"/>
            <a:ext cx="2119800" cy="109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Quin preu estic disposat a pagar pels errors del sistema?</a:t>
            </a:r>
            <a:endParaRPr b="1" sz="900">
              <a:solidFill>
                <a:schemeClr val="dk1"/>
              </a:solidFill>
            </a:endParaRPr>
          </a:p>
          <a:p>
            <a:pPr indent="0" lvl="0" marL="0" rtl="0" algn="just">
              <a:spcBef>
                <a:spcPts val="0"/>
              </a:spcBef>
              <a:spcAft>
                <a:spcPts val="0"/>
              </a:spcAft>
              <a:buNone/>
            </a:pPr>
            <a:r>
              <a:rPr lang="ca-ES" sz="900">
                <a:solidFill>
                  <a:schemeClr val="dk1"/>
                </a:solidFill>
              </a:rPr>
              <a:t>S’accepta que en alguns casos es generin alertes innecessàries, ja que és més costós per al negoci no detectar una cancel·lació real que aplicar una acció preventiva que finalment no era necessària.</a:t>
            </a:r>
            <a:endParaRPr sz="900" u="sng">
              <a:solidFill>
                <a:srgbClr val="FF0000"/>
              </a:solidFill>
            </a:endParaRPr>
          </a:p>
        </p:txBody>
      </p:sp>
      <p:sp>
        <p:nvSpPr>
          <p:cNvPr id="93" name="Google Shape;93;p2"/>
          <p:cNvSpPr txBox="1"/>
          <p:nvPr/>
        </p:nvSpPr>
        <p:spPr>
          <a:xfrm>
            <a:off x="2408175" y="2640300"/>
            <a:ext cx="2119800" cy="109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Tenim accés a les dades</a:t>
            </a:r>
            <a:endParaRPr b="1" sz="900">
              <a:solidFill>
                <a:schemeClr val="dk1"/>
              </a:solidFill>
            </a:endParaRPr>
          </a:p>
          <a:p>
            <a:pPr indent="0" lvl="0" marL="0" rtl="0" algn="just">
              <a:spcBef>
                <a:spcPts val="0"/>
              </a:spcBef>
              <a:spcAft>
                <a:spcPts val="0"/>
              </a:spcAft>
              <a:buNone/>
            </a:pPr>
            <a:r>
              <a:rPr b="1" lang="ca-ES" sz="900">
                <a:solidFill>
                  <a:schemeClr val="dk1"/>
                </a:solidFill>
              </a:rPr>
              <a:t>necessàries?</a:t>
            </a:r>
            <a:endParaRPr sz="900">
              <a:solidFill>
                <a:schemeClr val="dk1"/>
              </a:solidFill>
            </a:endParaRPr>
          </a:p>
          <a:p>
            <a:pPr indent="0" lvl="0" marL="0" rtl="0" algn="just">
              <a:spcBef>
                <a:spcPts val="0"/>
              </a:spcBef>
              <a:spcAft>
                <a:spcPts val="0"/>
              </a:spcAft>
              <a:buNone/>
            </a:pPr>
            <a:r>
              <a:rPr lang="ca-ES" sz="900">
                <a:solidFill>
                  <a:schemeClr val="dk1"/>
                </a:solidFill>
              </a:rPr>
              <a:t>Si. Disposem d’un conjunt de dades històriques de reserves hoteleres que inclou tant la informació de cada reserva com el seu resultat final (cancel·lada o no cancel·lada).</a:t>
            </a:r>
            <a:endParaRPr sz="900">
              <a:solidFill>
                <a:schemeClr val="dk1"/>
              </a:solidFill>
            </a:endParaRPr>
          </a:p>
        </p:txBody>
      </p:sp>
      <p:sp>
        <p:nvSpPr>
          <p:cNvPr id="94" name="Google Shape;94;p2"/>
          <p:cNvSpPr txBox="1"/>
          <p:nvPr/>
        </p:nvSpPr>
        <p:spPr>
          <a:xfrm>
            <a:off x="4601850" y="2640300"/>
            <a:ext cx="2119800" cy="109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Com podem mesurar l’èxit del</a:t>
            </a:r>
            <a:endParaRPr b="1" sz="900">
              <a:solidFill>
                <a:schemeClr val="dk1"/>
              </a:solidFill>
            </a:endParaRPr>
          </a:p>
          <a:p>
            <a:pPr indent="0" lvl="0" marL="0" rtl="0" algn="just">
              <a:spcBef>
                <a:spcPts val="0"/>
              </a:spcBef>
              <a:spcAft>
                <a:spcPts val="0"/>
              </a:spcAft>
              <a:buNone/>
            </a:pPr>
            <a:r>
              <a:rPr b="1" lang="ca-ES" sz="900">
                <a:solidFill>
                  <a:schemeClr val="dk1"/>
                </a:solidFill>
              </a:rPr>
              <a:t>projecte?</a:t>
            </a:r>
            <a:endParaRPr b="1" sz="900">
              <a:solidFill>
                <a:schemeClr val="dk1"/>
              </a:solidFill>
            </a:endParaRPr>
          </a:p>
          <a:p>
            <a:pPr indent="0" lvl="0" marL="0" rtl="0" algn="just">
              <a:spcBef>
                <a:spcPts val="0"/>
              </a:spcBef>
              <a:spcAft>
                <a:spcPts val="0"/>
              </a:spcAft>
              <a:buNone/>
            </a:pPr>
            <a:r>
              <a:rPr lang="ca-ES" sz="900">
                <a:solidFill>
                  <a:schemeClr val="dk1"/>
                </a:solidFill>
              </a:rPr>
              <a:t>Accuracy del model</a:t>
            </a:r>
            <a:endParaRPr sz="900">
              <a:solidFill>
                <a:schemeClr val="dk1"/>
              </a:solidFill>
            </a:endParaRPr>
          </a:p>
          <a:p>
            <a:pPr indent="0" lvl="0" marL="0" rtl="0" algn="just">
              <a:spcBef>
                <a:spcPts val="0"/>
              </a:spcBef>
              <a:spcAft>
                <a:spcPts val="0"/>
              </a:spcAft>
              <a:buNone/>
            </a:pPr>
            <a:r>
              <a:rPr lang="ca-ES" sz="900">
                <a:solidFill>
                  <a:schemeClr val="dk1"/>
                </a:solidFill>
              </a:rPr>
              <a:t>Recall de cancel·lacions</a:t>
            </a:r>
            <a:endParaRPr sz="900">
              <a:solidFill>
                <a:schemeClr val="dk1"/>
              </a:solidFill>
            </a:endParaRPr>
          </a:p>
          <a:p>
            <a:pPr indent="0" lvl="0" marL="0" rtl="0" algn="just">
              <a:spcBef>
                <a:spcPts val="0"/>
              </a:spcBef>
              <a:spcAft>
                <a:spcPts val="0"/>
              </a:spcAft>
              <a:buNone/>
            </a:pPr>
            <a:r>
              <a:rPr lang="ca-ES" sz="900">
                <a:solidFill>
                  <a:schemeClr val="dk1"/>
                </a:solidFill>
              </a:rPr>
              <a:t>Reducció d’habitacions buides</a:t>
            </a:r>
            <a:endParaRPr sz="900">
              <a:solidFill>
                <a:schemeClr val="dk1"/>
              </a:solidFill>
            </a:endParaRPr>
          </a:p>
          <a:p>
            <a:pPr indent="0" lvl="0" marL="0" rtl="0" algn="just">
              <a:spcBef>
                <a:spcPts val="0"/>
              </a:spcBef>
              <a:spcAft>
                <a:spcPts val="0"/>
              </a:spcAft>
              <a:buNone/>
            </a:pPr>
            <a:r>
              <a:rPr lang="ca-ES" sz="900">
                <a:solidFill>
                  <a:schemeClr val="dk1"/>
                </a:solidFill>
              </a:rPr>
              <a:t>Increment del percentatge real d’ocupació</a:t>
            </a:r>
            <a:endParaRPr sz="900">
              <a:solidFill>
                <a:schemeClr val="dk1"/>
              </a:solidFill>
            </a:endParaRPr>
          </a:p>
        </p:txBody>
      </p:sp>
      <p:sp>
        <p:nvSpPr>
          <p:cNvPr id="95" name="Google Shape;95;p2"/>
          <p:cNvSpPr txBox="1"/>
          <p:nvPr/>
        </p:nvSpPr>
        <p:spPr>
          <a:xfrm>
            <a:off x="6797075" y="1179000"/>
            <a:ext cx="2050800" cy="2402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Què em falta per posar en marxa</a:t>
            </a:r>
            <a:endParaRPr b="1" sz="900">
              <a:solidFill>
                <a:schemeClr val="dk1"/>
              </a:solidFill>
            </a:endParaRPr>
          </a:p>
          <a:p>
            <a:pPr indent="0" lvl="0" marL="0" rtl="0" algn="just">
              <a:spcBef>
                <a:spcPts val="0"/>
              </a:spcBef>
              <a:spcAft>
                <a:spcPts val="0"/>
              </a:spcAft>
              <a:buNone/>
            </a:pPr>
            <a:r>
              <a:rPr b="1" lang="ca-ES" sz="900">
                <a:solidFill>
                  <a:schemeClr val="dk1"/>
                </a:solidFill>
              </a:rPr>
              <a:t>aquest projecte?</a:t>
            </a:r>
            <a:endParaRPr b="1" sz="900">
              <a:solidFill>
                <a:schemeClr val="dk1"/>
              </a:solidFill>
            </a:endParaRPr>
          </a:p>
          <a:p>
            <a:pPr indent="0" lvl="0" marL="0" rtl="0" algn="just">
              <a:spcBef>
                <a:spcPts val="0"/>
              </a:spcBef>
              <a:spcAft>
                <a:spcPts val="0"/>
              </a:spcAft>
              <a:buNone/>
            </a:pPr>
            <a:r>
              <a:t/>
            </a:r>
            <a:endParaRPr b="1" sz="900">
              <a:solidFill>
                <a:schemeClr val="dk1"/>
              </a:solidFill>
            </a:endParaRPr>
          </a:p>
          <a:p>
            <a:pPr indent="0" lvl="0" marL="0" rtl="0" algn="just">
              <a:spcBef>
                <a:spcPts val="0"/>
              </a:spcBef>
              <a:spcAft>
                <a:spcPts val="0"/>
              </a:spcAft>
              <a:buNone/>
            </a:pPr>
            <a:r>
              <a:t/>
            </a:r>
            <a:endParaRPr b="1" sz="900">
              <a:solidFill>
                <a:schemeClr val="dk1"/>
              </a:solidFill>
            </a:endParaRPr>
          </a:p>
          <a:p>
            <a:pPr indent="0" lvl="0" marL="0" rtl="0" algn="just">
              <a:spcBef>
                <a:spcPts val="0"/>
              </a:spcBef>
              <a:spcAft>
                <a:spcPts val="0"/>
              </a:spcAft>
              <a:buNone/>
            </a:pPr>
            <a:r>
              <a:rPr lang="ca-ES" sz="900">
                <a:solidFill>
                  <a:schemeClr val="dk1"/>
                </a:solidFill>
              </a:rPr>
              <a:t>Integrar el model al sistema de reserves</a:t>
            </a:r>
            <a:endParaRPr sz="900">
              <a:solidFill>
                <a:schemeClr val="dk1"/>
              </a:solidFill>
            </a:endParaRPr>
          </a:p>
          <a:p>
            <a:pPr indent="0" lvl="0" marL="0" rtl="0" algn="just">
              <a:spcBef>
                <a:spcPts val="0"/>
              </a:spcBef>
              <a:spcAft>
                <a:spcPts val="0"/>
              </a:spcAft>
              <a:buNone/>
            </a:pPr>
            <a:r>
              <a:t/>
            </a:r>
            <a:endParaRPr sz="900">
              <a:solidFill>
                <a:schemeClr val="dk1"/>
              </a:solidFill>
            </a:endParaRPr>
          </a:p>
          <a:p>
            <a:pPr indent="0" lvl="0" marL="0" rtl="0" algn="just">
              <a:spcBef>
                <a:spcPts val="0"/>
              </a:spcBef>
              <a:spcAft>
                <a:spcPts val="0"/>
              </a:spcAft>
              <a:buNone/>
            </a:pPr>
            <a:r>
              <a:rPr lang="ca-ES" sz="900">
                <a:solidFill>
                  <a:schemeClr val="dk1"/>
                </a:solidFill>
              </a:rPr>
              <a:t>Definir el llindar de risc conjuntament amb el Revenue Manager, tenint en compte l’impacte econòmic i la tolerància al risc de l’hotel.</a:t>
            </a:r>
            <a:endParaRPr sz="900">
              <a:solidFill>
                <a:schemeClr val="dk1"/>
              </a:solidFill>
              <a:highlight>
                <a:srgbClr val="00FF00"/>
              </a:highlight>
            </a:endParaRPr>
          </a:p>
          <a:p>
            <a:pPr indent="0" lvl="0" marL="0" rtl="0" algn="just">
              <a:spcBef>
                <a:spcPts val="0"/>
              </a:spcBef>
              <a:spcAft>
                <a:spcPts val="0"/>
              </a:spcAft>
              <a:buNone/>
            </a:pPr>
            <a:r>
              <a:t/>
            </a:r>
            <a:endParaRPr sz="900">
              <a:solidFill>
                <a:schemeClr val="dk1"/>
              </a:solidFill>
            </a:endParaRPr>
          </a:p>
          <a:p>
            <a:pPr indent="0" lvl="0" marL="0" rtl="0" algn="just">
              <a:spcBef>
                <a:spcPts val="0"/>
              </a:spcBef>
              <a:spcAft>
                <a:spcPts val="0"/>
              </a:spcAft>
              <a:buNone/>
            </a:pPr>
            <a:r>
              <a:rPr lang="ca-ES" sz="900">
                <a:solidFill>
                  <a:schemeClr val="dk1"/>
                </a:solidFill>
              </a:rPr>
              <a:t>Formació del personal</a:t>
            </a:r>
            <a:endParaRPr sz="900">
              <a:solidFill>
                <a:schemeClr val="dk1"/>
              </a:solidFill>
            </a:endParaRPr>
          </a:p>
          <a:p>
            <a:pPr indent="0" lvl="0" marL="0" rtl="0" algn="just">
              <a:spcBef>
                <a:spcPts val="0"/>
              </a:spcBef>
              <a:spcAft>
                <a:spcPts val="0"/>
              </a:spcAft>
              <a:buNone/>
            </a:pPr>
            <a:r>
              <a:t/>
            </a:r>
            <a:endParaRPr sz="900">
              <a:solidFill>
                <a:schemeClr val="dk1"/>
              </a:solidFill>
            </a:endParaRPr>
          </a:p>
          <a:p>
            <a:pPr indent="0" lvl="0" marL="0" rtl="0" algn="just">
              <a:spcBef>
                <a:spcPts val="0"/>
              </a:spcBef>
              <a:spcAft>
                <a:spcPts val="0"/>
              </a:spcAft>
              <a:buNone/>
            </a:pPr>
            <a:r>
              <a:rPr lang="ca-ES" sz="900">
                <a:solidFill>
                  <a:schemeClr val="dk1"/>
                </a:solidFill>
              </a:rPr>
              <a:t>Pilot inicial en un dels hotels</a:t>
            </a:r>
            <a:endParaRPr sz="900">
              <a:solidFill>
                <a:schemeClr val="dk1"/>
              </a:solidFill>
            </a:endParaRPr>
          </a:p>
        </p:txBody>
      </p:sp>
      <p:sp>
        <p:nvSpPr>
          <p:cNvPr id="96" name="Google Shape;96;p2"/>
          <p:cNvSpPr txBox="1"/>
          <p:nvPr/>
        </p:nvSpPr>
        <p:spPr>
          <a:xfrm>
            <a:off x="4628750" y="3967100"/>
            <a:ext cx="4269000" cy="944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Quins aspectes de l’organització poden posar en perill el projecte?</a:t>
            </a:r>
            <a:endParaRPr b="1" sz="900">
              <a:solidFill>
                <a:schemeClr val="dk1"/>
              </a:solidFill>
            </a:endParaRPr>
          </a:p>
          <a:p>
            <a:pPr indent="0" lvl="0" marL="0" rtl="0" algn="just">
              <a:spcBef>
                <a:spcPts val="0"/>
              </a:spcBef>
              <a:spcAft>
                <a:spcPts val="0"/>
              </a:spcAft>
              <a:buNone/>
            </a:pPr>
            <a:r>
              <a:rPr lang="ca-ES" sz="900">
                <a:solidFill>
                  <a:schemeClr val="dk1"/>
                </a:solidFill>
              </a:rPr>
              <a:t>Manca de comunicació entre els departaments de vendes i recepció.</a:t>
            </a:r>
            <a:endParaRPr sz="900">
              <a:solidFill>
                <a:schemeClr val="dk1"/>
              </a:solidFill>
            </a:endParaRPr>
          </a:p>
          <a:p>
            <a:pPr indent="0" lvl="0" marL="0" rtl="0" algn="just">
              <a:spcBef>
                <a:spcPts val="0"/>
              </a:spcBef>
              <a:spcAft>
                <a:spcPts val="0"/>
              </a:spcAft>
              <a:buNone/>
            </a:pPr>
            <a:r>
              <a:rPr lang="ca-ES" sz="900">
                <a:solidFill>
                  <a:schemeClr val="dk1"/>
                </a:solidFill>
              </a:rPr>
              <a:t>Adopció: Hotels independents amb poca cultura de dades o recursos limitats.</a:t>
            </a:r>
            <a:endParaRPr sz="900">
              <a:solidFill>
                <a:schemeClr val="dk1"/>
              </a:solidFill>
            </a:endParaRPr>
          </a:p>
          <a:p>
            <a:pPr indent="0" lvl="0" marL="0" rtl="0" algn="just">
              <a:spcBef>
                <a:spcPts val="0"/>
              </a:spcBef>
              <a:spcAft>
                <a:spcPts val="0"/>
              </a:spcAft>
              <a:buNone/>
            </a:pPr>
            <a:r>
              <a:rPr lang="ca-ES" sz="900">
                <a:solidFill>
                  <a:schemeClr val="dk1"/>
                </a:solidFill>
              </a:rPr>
              <a:t>Resistència a canviar els protocols actuals de gestió de reserves.</a:t>
            </a:r>
            <a:endParaRPr sz="900">
              <a:solidFill>
                <a:schemeClr val="dk1"/>
              </a:solidFill>
            </a:endParaRPr>
          </a:p>
          <a:p>
            <a:pPr indent="0" lvl="0" marL="0" rtl="0" algn="just">
              <a:spcBef>
                <a:spcPts val="0"/>
              </a:spcBef>
              <a:spcAft>
                <a:spcPts val="0"/>
              </a:spcAft>
              <a:buNone/>
            </a:pPr>
            <a:r>
              <a:t/>
            </a:r>
            <a:endParaRPr sz="900">
              <a:solidFill>
                <a:schemeClr val="dk1"/>
              </a:solidFill>
            </a:endParaRPr>
          </a:p>
        </p:txBody>
      </p:sp>
      <p:sp>
        <p:nvSpPr>
          <p:cNvPr id="97" name="Google Shape;97;p2"/>
          <p:cNvSpPr txBox="1"/>
          <p:nvPr/>
        </p:nvSpPr>
        <p:spPr>
          <a:xfrm>
            <a:off x="326575" y="4054925"/>
            <a:ext cx="42000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dk2"/>
              </a:solidFill>
            </a:endParaRPr>
          </a:p>
        </p:txBody>
      </p:sp>
      <p:sp>
        <p:nvSpPr>
          <p:cNvPr id="98" name="Google Shape;98;p2"/>
          <p:cNvSpPr txBox="1"/>
          <p:nvPr/>
        </p:nvSpPr>
        <p:spPr>
          <a:xfrm>
            <a:off x="269725" y="3967100"/>
            <a:ext cx="4313700" cy="136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ca-ES" sz="900">
                <a:solidFill>
                  <a:schemeClr val="dk1"/>
                </a:solidFill>
              </a:rPr>
              <a:t>Quins aspectes de l’organització poden posar en perill el projecte?</a:t>
            </a:r>
            <a:endParaRPr sz="900">
              <a:solidFill>
                <a:schemeClr val="dk1"/>
              </a:solidFill>
            </a:endParaRPr>
          </a:p>
          <a:p>
            <a:pPr indent="-285750" lvl="0" marL="457200" rtl="0" algn="just">
              <a:spcBef>
                <a:spcPts val="0"/>
              </a:spcBef>
              <a:spcAft>
                <a:spcPts val="0"/>
              </a:spcAft>
              <a:buClr>
                <a:schemeClr val="dk1"/>
              </a:buClr>
              <a:buSzPts val="900"/>
              <a:buChar char="-"/>
            </a:pPr>
            <a:r>
              <a:rPr lang="ca-ES" sz="900">
                <a:solidFill>
                  <a:schemeClr val="dk1"/>
                </a:solidFill>
              </a:rPr>
              <a:t>Overbooking fal</a:t>
            </a:r>
            <a:r>
              <a:rPr lang="ca-ES" sz="900">
                <a:solidFill>
                  <a:schemeClr val="dk1"/>
                </a:solidFill>
              </a:rPr>
              <a:t>lit: </a:t>
            </a:r>
            <a:r>
              <a:rPr lang="ca-ES" sz="900">
                <a:solidFill>
                  <a:schemeClr val="dk1"/>
                </a:solidFill>
              </a:rPr>
              <a:t>Si el model prediu erròniament una cancel·lació que no es produeix</a:t>
            </a:r>
            <a:endParaRPr sz="900">
              <a:solidFill>
                <a:schemeClr val="dk1"/>
              </a:solidFill>
            </a:endParaRPr>
          </a:p>
          <a:p>
            <a:pPr indent="-285750" lvl="0" marL="457200" rtl="0" algn="just">
              <a:spcBef>
                <a:spcPts val="0"/>
              </a:spcBef>
              <a:spcAft>
                <a:spcPts val="0"/>
              </a:spcAft>
              <a:buClr>
                <a:schemeClr val="dk1"/>
              </a:buClr>
              <a:buSzPts val="900"/>
              <a:buChar char="-"/>
            </a:pPr>
            <a:r>
              <a:rPr lang="ca-ES" sz="900">
                <a:solidFill>
                  <a:schemeClr val="dk1"/>
                </a:solidFill>
              </a:rPr>
              <a:t>Hotel podria haver de reallotjar clients ("walking")</a:t>
            </a:r>
            <a:endParaRPr sz="900">
              <a:solidFill>
                <a:schemeClr val="dk1"/>
              </a:solidFill>
            </a:endParaRPr>
          </a:p>
          <a:p>
            <a:pPr indent="-285750" lvl="0" marL="457200" rtl="0" algn="just">
              <a:spcBef>
                <a:spcPts val="0"/>
              </a:spcBef>
              <a:spcAft>
                <a:spcPts val="0"/>
              </a:spcAft>
              <a:buClr>
                <a:schemeClr val="dk1"/>
              </a:buClr>
              <a:buSzPts val="900"/>
              <a:buChar char="-"/>
            </a:pPr>
            <a:r>
              <a:rPr lang="ca-ES" sz="900">
                <a:solidFill>
                  <a:schemeClr val="dk1"/>
                </a:solidFill>
              </a:rPr>
              <a:t>Generant costos i mala reputació. </a:t>
            </a:r>
            <a:endParaRPr sz="9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graphicFrame>
        <p:nvGraphicFramePr>
          <p:cNvPr id="103" name="Google Shape;103;p3"/>
          <p:cNvGraphicFramePr/>
          <p:nvPr/>
        </p:nvGraphicFramePr>
        <p:xfrm>
          <a:off x="916185" y="1169710"/>
          <a:ext cx="3000000" cy="3000000"/>
        </p:xfrm>
        <a:graphic>
          <a:graphicData uri="http://schemas.openxmlformats.org/drawingml/2006/table">
            <a:tbl>
              <a:tblPr>
                <a:noFill/>
                <a:tableStyleId>{9BB86136-B855-490C-A661-0692E11C9BB2}</a:tableStyleId>
              </a:tblPr>
              <a:tblGrid>
                <a:gridCol w="1190275"/>
                <a:gridCol w="6121375"/>
              </a:tblGrid>
              <a:tr h="247650">
                <a:tc>
                  <a:txBody>
                    <a:bodyPr/>
                    <a:lstStyle/>
                    <a:p>
                      <a:pPr indent="0" lvl="0" marL="0" marR="0" rtl="0" algn="l">
                        <a:lnSpc>
                          <a:spcPct val="100000"/>
                        </a:lnSpc>
                        <a:spcBef>
                          <a:spcPts val="0"/>
                        </a:spcBef>
                        <a:spcAft>
                          <a:spcPts val="0"/>
                        </a:spcAft>
                        <a:buNone/>
                      </a:pPr>
                      <a:r>
                        <a:rPr b="1" i="0" lang="ca-ES" sz="1400" u="none" cap="none" strike="noStrike">
                          <a:solidFill>
                            <a:srgbClr val="FFFFFF"/>
                          </a:solidFill>
                          <a:latin typeface="Arial"/>
                          <a:ea typeface="Arial"/>
                          <a:cs typeface="Arial"/>
                          <a:sym typeface="Arial"/>
                        </a:rPr>
                        <a:t>Dimensió</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156082"/>
                    </a:solidFill>
                  </a:tcPr>
                </a:tc>
                <a:tc>
                  <a:txBody>
                    <a:bodyPr/>
                    <a:lstStyle/>
                    <a:p>
                      <a:pPr indent="0" lvl="0" marL="0" marR="0" rtl="0" algn="l">
                        <a:lnSpc>
                          <a:spcPct val="100000"/>
                        </a:lnSpc>
                        <a:spcBef>
                          <a:spcPts val="0"/>
                        </a:spcBef>
                        <a:spcAft>
                          <a:spcPts val="0"/>
                        </a:spcAft>
                        <a:buNone/>
                      </a:pPr>
                      <a:r>
                        <a:rPr b="1" i="0" lang="ca-ES" sz="1400" u="none" cap="none" strike="noStrike">
                          <a:solidFill>
                            <a:srgbClr val="FFFFFF"/>
                          </a:solidFill>
                          <a:latin typeface="Arial"/>
                          <a:ea typeface="Arial"/>
                          <a:cs typeface="Arial"/>
                          <a:sym typeface="Arial"/>
                        </a:rPr>
                        <a:t>Comentaris</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156082"/>
                    </a:solidFill>
                  </a:tcPr>
                </a:tc>
              </a:tr>
              <a:tr h="247650">
                <a:tc>
                  <a:txBody>
                    <a:bodyPr/>
                    <a:lstStyle/>
                    <a:p>
                      <a:pPr indent="0" lvl="0" marL="0" marR="0" rtl="0" algn="l">
                        <a:lnSpc>
                          <a:spcPct val="100000"/>
                        </a:lnSpc>
                        <a:spcBef>
                          <a:spcPts val="0"/>
                        </a:spcBef>
                        <a:spcAft>
                          <a:spcPts val="0"/>
                        </a:spcAft>
                        <a:buNone/>
                      </a:pPr>
                      <a:r>
                        <a:rPr b="1" i="0" lang="ca-ES" sz="1400" u="none" cap="none" strike="noStrike">
                          <a:solidFill>
                            <a:srgbClr val="000000"/>
                          </a:solidFill>
                          <a:latin typeface="Arial"/>
                          <a:ea typeface="Arial"/>
                          <a:cs typeface="Arial"/>
                          <a:sym typeface="Arial"/>
                        </a:rPr>
                        <a:t>Tecnologies</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AD1D8"/>
                    </a:solidFill>
                  </a:tcPr>
                </a:tc>
                <a:tc>
                  <a:txBody>
                    <a:bodyPr/>
                    <a:lstStyle/>
                    <a:p>
                      <a:pPr indent="0" lvl="0" marL="0" marR="0" rtl="0" algn="just">
                        <a:lnSpc>
                          <a:spcPct val="100000"/>
                        </a:lnSpc>
                        <a:spcBef>
                          <a:spcPts val="0"/>
                        </a:spcBef>
                        <a:spcAft>
                          <a:spcPts val="0"/>
                        </a:spcAft>
                        <a:buNone/>
                      </a:pPr>
                      <a:r>
                        <a:rPr lang="ca-ES" sz="1100" u="none" cap="none" strike="noStrike"/>
                        <a:t>Classificació supervisada (Logistic Regression, Random Forest o Gradient Boosting), model de predicció de risc, possible calibratge de probabilitats i sistema d’alerta integrat al PMS.</a:t>
                      </a:r>
                      <a:endParaRPr sz="1100"/>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CAD1D8"/>
                    </a:solidFill>
                  </a:tcPr>
                </a:tc>
              </a:tr>
              <a:tr h="247650">
                <a:tc>
                  <a:txBody>
                    <a:bodyPr/>
                    <a:lstStyle/>
                    <a:p>
                      <a:pPr indent="0" lvl="0" marL="0" marR="0" rtl="0" algn="l">
                        <a:lnSpc>
                          <a:spcPct val="100000"/>
                        </a:lnSpc>
                        <a:spcBef>
                          <a:spcPts val="0"/>
                        </a:spcBef>
                        <a:spcAft>
                          <a:spcPts val="0"/>
                        </a:spcAft>
                        <a:buNone/>
                      </a:pPr>
                      <a:r>
                        <a:rPr b="1" i="0" lang="ca-ES" sz="1400" u="none" cap="none" strike="noStrike">
                          <a:solidFill>
                            <a:srgbClr val="000000"/>
                          </a:solidFill>
                          <a:latin typeface="Arial"/>
                          <a:ea typeface="Arial"/>
                          <a:cs typeface="Arial"/>
                          <a:sym typeface="Arial"/>
                        </a:rPr>
                        <a:t>Riscos</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9EC"/>
                    </a:solidFill>
                  </a:tcPr>
                </a:tc>
                <a:tc>
                  <a:txBody>
                    <a:bodyPr/>
                    <a:lstStyle/>
                    <a:p>
                      <a:pPr indent="0" lvl="0" marL="0" marR="0" rtl="0" algn="just">
                        <a:lnSpc>
                          <a:spcPct val="100000"/>
                        </a:lnSpc>
                        <a:spcBef>
                          <a:spcPts val="0"/>
                        </a:spcBef>
                        <a:spcAft>
                          <a:spcPts val="0"/>
                        </a:spcAft>
                        <a:buNone/>
                      </a:pPr>
                      <a:r>
                        <a:rPr lang="ca-ES" sz="1100" u="none" cap="none" strike="noStrike"/>
                        <a:t>Que les dades futures tinguin una distribució diferent (data drift).</a:t>
                      </a:r>
                      <a:endParaRPr sz="1100" u="none" cap="none" strike="noStrike"/>
                    </a:p>
                    <a:p>
                      <a:pPr indent="0" lvl="0" marL="0" marR="0" rtl="0" algn="just">
                        <a:lnSpc>
                          <a:spcPct val="100000"/>
                        </a:lnSpc>
                        <a:spcBef>
                          <a:spcPts val="0"/>
                        </a:spcBef>
                        <a:spcAft>
                          <a:spcPts val="0"/>
                        </a:spcAft>
                        <a:buNone/>
                      </a:pPr>
                      <a:r>
                        <a:rPr lang="ca-ES" sz="1100" u="none" cap="none" strike="noStrike"/>
                        <a:t>Canvis en el comportament de reserva (temporades, crisis, canvis en polítiques de dipòsit).</a:t>
                      </a:r>
                      <a:endParaRPr sz="1100" u="none" cap="none" strike="noStrike"/>
                    </a:p>
                    <a:p>
                      <a:pPr indent="0" lvl="0" marL="0" marR="0" rtl="0" algn="just">
                        <a:lnSpc>
                          <a:spcPct val="100000"/>
                        </a:lnSpc>
                        <a:spcBef>
                          <a:spcPts val="0"/>
                        </a:spcBef>
                        <a:spcAft>
                          <a:spcPts val="0"/>
                        </a:spcAft>
                        <a:buNone/>
                      </a:pPr>
                      <a:r>
                        <a:rPr lang="ca-ES" sz="1100" u="none" cap="none" strike="noStrike"/>
                        <a:t>Model massa agressiu que afecti l’experiència del client.</a:t>
                      </a:r>
                      <a:endParaRPr sz="1100"/>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9EC"/>
                    </a:solidFill>
                  </a:tcPr>
                </a:tc>
              </a:tr>
              <a:tr h="247650">
                <a:tc>
                  <a:txBody>
                    <a:bodyPr/>
                    <a:lstStyle/>
                    <a:p>
                      <a:pPr indent="0" lvl="0" marL="0" marR="0" rtl="0" algn="l">
                        <a:lnSpc>
                          <a:spcPct val="100000"/>
                        </a:lnSpc>
                        <a:spcBef>
                          <a:spcPts val="0"/>
                        </a:spcBef>
                        <a:spcAft>
                          <a:spcPts val="0"/>
                        </a:spcAft>
                        <a:buNone/>
                      </a:pPr>
                      <a:r>
                        <a:rPr b="1" i="0" lang="ca-ES" sz="1400" u="none" cap="none" strike="noStrike">
                          <a:solidFill>
                            <a:srgbClr val="000000"/>
                          </a:solidFill>
                          <a:latin typeface="Arial"/>
                          <a:ea typeface="Arial"/>
                          <a:cs typeface="Arial"/>
                          <a:sym typeface="Arial"/>
                        </a:rPr>
                        <a:t>Dades</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AD1D8"/>
                    </a:solidFill>
                  </a:tcPr>
                </a:tc>
                <a:tc>
                  <a:txBody>
                    <a:bodyPr/>
                    <a:lstStyle/>
                    <a:p>
                      <a:pPr indent="0" lvl="0" marL="0" marR="0" rtl="0" algn="just">
                        <a:lnSpc>
                          <a:spcPct val="100000"/>
                        </a:lnSpc>
                        <a:spcBef>
                          <a:spcPts val="0"/>
                        </a:spcBef>
                        <a:spcAft>
                          <a:spcPts val="0"/>
                        </a:spcAft>
                        <a:buNone/>
                      </a:pPr>
                      <a:r>
                        <a:rPr lang="ca-ES" sz="1100"/>
                        <a:t>Històric</a:t>
                      </a:r>
                      <a:r>
                        <a:rPr lang="ca-ES" sz="1400" u="none" cap="none" strike="noStrike"/>
                        <a:t> </a:t>
                      </a:r>
                      <a:r>
                        <a:rPr lang="ca-ES" sz="1100" u="none" cap="none" strike="noStrike"/>
                        <a:t>de reserves hoteleres amb variables com:</a:t>
                      </a:r>
                      <a:endParaRPr sz="1100" u="none" cap="none" strike="noStrike"/>
                    </a:p>
                    <a:p>
                      <a:pPr indent="0" lvl="0" marL="0" marR="0" rtl="0" algn="just">
                        <a:lnSpc>
                          <a:spcPct val="100000"/>
                        </a:lnSpc>
                        <a:spcBef>
                          <a:spcPts val="0"/>
                        </a:spcBef>
                        <a:spcAft>
                          <a:spcPts val="0"/>
                        </a:spcAft>
                        <a:buNone/>
                      </a:pPr>
                      <a:r>
                        <a:rPr lang="ca-ES" sz="1100" u="none" cap="none" strike="noStrike"/>
                        <a:t>lead_time, deposit_type, market_segment, previous_cancellations, customer_type, adr, canal de distribució, etc.</a:t>
                      </a:r>
                      <a:endParaRPr sz="1100" u="none" cap="none" strike="noStrike"/>
                    </a:p>
                    <a:p>
                      <a:pPr indent="0" lvl="0" marL="0" marR="0" rtl="0" algn="just">
                        <a:lnSpc>
                          <a:spcPct val="100000"/>
                        </a:lnSpc>
                        <a:spcBef>
                          <a:spcPts val="0"/>
                        </a:spcBef>
                        <a:spcAft>
                          <a:spcPts val="0"/>
                        </a:spcAft>
                        <a:buNone/>
                      </a:pPr>
                      <a:r>
                        <a:t/>
                      </a:r>
                      <a:endParaRPr sz="1100" u="none" cap="none" strike="noStrike"/>
                    </a:p>
                    <a:p>
                      <a:pPr indent="0" lvl="0" marL="0" marR="0" rtl="0" algn="just">
                        <a:lnSpc>
                          <a:spcPct val="100000"/>
                        </a:lnSpc>
                        <a:spcBef>
                          <a:spcPts val="0"/>
                        </a:spcBef>
                        <a:spcAft>
                          <a:spcPts val="0"/>
                        </a:spcAft>
                        <a:buNone/>
                      </a:pPr>
                      <a:r>
                        <a:rPr lang="ca-ES" sz="1100" u="none" cap="none" strike="noStrike"/>
                        <a:t>Dades disponibles en el moment de fer la reserva.</a:t>
                      </a:r>
                      <a:endParaRPr sz="1100"/>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AD1D8"/>
                    </a:solidFill>
                  </a:tcPr>
                </a:tc>
              </a:tr>
              <a:tr h="247650">
                <a:tc>
                  <a:txBody>
                    <a:bodyPr/>
                    <a:lstStyle/>
                    <a:p>
                      <a:pPr indent="0" lvl="0" marL="0" marR="0" rtl="0" algn="l">
                        <a:lnSpc>
                          <a:spcPct val="100000"/>
                        </a:lnSpc>
                        <a:spcBef>
                          <a:spcPts val="0"/>
                        </a:spcBef>
                        <a:spcAft>
                          <a:spcPts val="0"/>
                        </a:spcAft>
                        <a:buNone/>
                      </a:pPr>
                      <a:r>
                        <a:rPr b="1" i="0" lang="ca-ES" sz="1400" u="none" cap="none" strike="noStrike">
                          <a:solidFill>
                            <a:srgbClr val="000000"/>
                          </a:solidFill>
                          <a:latin typeface="Arial"/>
                          <a:ea typeface="Arial"/>
                          <a:cs typeface="Arial"/>
                          <a:sym typeface="Arial"/>
                        </a:rPr>
                        <a:t>Referències</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9EC"/>
                    </a:solidFill>
                  </a:tcPr>
                </a:tc>
                <a:tc>
                  <a:txBody>
                    <a:bodyPr/>
                    <a:lstStyle/>
                    <a:p>
                      <a:pPr indent="0" lvl="0" marL="0" marR="0" rtl="0" algn="l">
                        <a:lnSpc>
                          <a:spcPct val="100000"/>
                        </a:lnSpc>
                        <a:spcBef>
                          <a:spcPts val="0"/>
                        </a:spcBef>
                        <a:spcAft>
                          <a:spcPts val="0"/>
                        </a:spcAft>
                        <a:buNone/>
                      </a:pPr>
                      <a:r>
                        <a:t/>
                      </a:r>
                      <a:endParaRPr sz="1300">
                        <a:highlight>
                          <a:srgbClr val="FF0000"/>
                        </a:highlight>
                      </a:endParaRPr>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7E9EC"/>
                    </a:solidFill>
                  </a:tcPr>
                </a:tc>
              </a:tr>
              <a:tr h="247650">
                <a:tc>
                  <a:txBody>
                    <a:bodyPr/>
                    <a:lstStyle/>
                    <a:p>
                      <a:pPr indent="0" lvl="0" marL="0" marR="0" rtl="0" algn="l">
                        <a:lnSpc>
                          <a:spcPct val="100000"/>
                        </a:lnSpc>
                        <a:spcBef>
                          <a:spcPts val="0"/>
                        </a:spcBef>
                        <a:spcAft>
                          <a:spcPts val="0"/>
                        </a:spcAft>
                        <a:buNone/>
                      </a:pPr>
                      <a:r>
                        <a:rPr b="1" i="0" lang="ca-ES" sz="1400" u="none" cap="none" strike="noStrike">
                          <a:solidFill>
                            <a:srgbClr val="000000"/>
                          </a:solidFill>
                          <a:latin typeface="Arial"/>
                          <a:ea typeface="Arial"/>
                          <a:cs typeface="Arial"/>
                          <a:sym typeface="Arial"/>
                        </a:rPr>
                        <a:t>Viabilitat</a:t>
                      </a:r>
                      <a:endParaRPr sz="1400" u="none" cap="none" strike="noStrike"/>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AD1D8"/>
                    </a:solidFill>
                  </a:tcPr>
                </a:tc>
                <a:tc>
                  <a:txBody>
                    <a:bodyPr/>
                    <a:lstStyle/>
                    <a:p>
                      <a:pPr indent="0" lvl="0" marL="0" marR="0" rtl="0" algn="l">
                        <a:lnSpc>
                          <a:spcPct val="100000"/>
                        </a:lnSpc>
                        <a:spcBef>
                          <a:spcPts val="0"/>
                        </a:spcBef>
                        <a:spcAft>
                          <a:spcPts val="0"/>
                        </a:spcAft>
                        <a:buNone/>
                      </a:pPr>
                      <a:r>
                        <a:rPr lang="ca-ES" sz="1400" u="none" cap="none" strike="noStrike"/>
                        <a:t> </a:t>
                      </a:r>
                      <a:r>
                        <a:rPr b="1" lang="ca-ES" sz="1200" u="none" cap="none" strike="noStrike">
                          <a:highlight>
                            <a:srgbClr val="00FF00"/>
                          </a:highlight>
                        </a:rPr>
                        <a:t>Alta</a:t>
                      </a:r>
                      <a:endParaRPr b="1" sz="1200">
                        <a:highlight>
                          <a:srgbClr val="00FF00"/>
                        </a:highlight>
                      </a:endParaRPr>
                    </a:p>
                  </a:txBody>
                  <a:tcPr marT="31750" marB="31750" marR="63500" marL="635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AD1D8"/>
                    </a:solidFill>
                  </a:tcPr>
                </a:tc>
              </a:tr>
            </a:tbl>
          </a:graphicData>
        </a:graphic>
      </p:graphicFrame>
      <p:pic>
        <p:nvPicPr>
          <p:cNvPr id="104" name="Google Shape;104;p3"/>
          <p:cNvPicPr preferRelativeResize="0"/>
          <p:nvPr/>
        </p:nvPicPr>
        <p:blipFill rotWithShape="1">
          <a:blip r:embed="rId3">
            <a:alphaModFix/>
          </a:blip>
          <a:srcRect b="0" l="0" r="0" t="0"/>
          <a:stretch/>
        </p:blipFill>
        <p:spPr>
          <a:xfrm>
            <a:off x="8675157" y="168364"/>
            <a:ext cx="314286" cy="3142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karina</dc:creator>
</cp:coreProperties>
</file>